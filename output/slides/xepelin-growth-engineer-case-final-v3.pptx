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feeae2e0f44276" /><Relationship Type="http://schemas.openxmlformats.org/officeDocument/2006/relationships/extended-properties" Target="/docProps/app.xml" Id="R5320a1dd41274d5e" /><Relationship Type="http://schemas.openxmlformats.org/officeDocument/2006/relationships/officeDocument" Target="/ppt/presentation.xml" Id="Rf442723a020349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449390deb5e49e9"/>
  </p:sldMasterIdLst>
  <p:notesMasterIdLst>
    <p:notesMasterId xmlns:r="http://schemas.openxmlformats.org/officeDocument/2006/relationships" r:id="Raa7e83be51b643f9"/>
  </p:notesMasterIdLst>
  <p:sldIdLst>
    <p:sldId xmlns:r="http://schemas.openxmlformats.org/officeDocument/2006/relationships" id="256" r:id="Rb23e25c1fc634d1d"/>
    <p:sldId xmlns:r="http://schemas.openxmlformats.org/officeDocument/2006/relationships" id="257" r:id="Rb93b500925494c5d"/>
    <p:sldId xmlns:r="http://schemas.openxmlformats.org/officeDocument/2006/relationships" id="258" r:id="Rec628a3795a24c1d"/>
    <p:sldId xmlns:r="http://schemas.openxmlformats.org/officeDocument/2006/relationships" id="259" r:id="R6113ed4cfde848fa"/>
    <p:sldId xmlns:r="http://schemas.openxmlformats.org/officeDocument/2006/relationships" id="260" r:id="Rf0f456fa0287482c"/>
    <p:sldId xmlns:r="http://schemas.openxmlformats.org/officeDocument/2006/relationships" id="261" r:id="Rec19f4958f384550"/>
    <p:sldId xmlns:r="http://schemas.openxmlformats.org/officeDocument/2006/relationships" id="262" r:id="R70fb0fefa7134fd6"/>
    <p:sldId xmlns:r="http://schemas.openxmlformats.org/officeDocument/2006/relationships" id="263" r:id="R6f2f0cae8de54eff"/>
    <p:sldId xmlns:r="http://schemas.openxmlformats.org/officeDocument/2006/relationships" id="264" r:id="R7092aaf5def64783"/>
    <p:sldId xmlns:r="http://schemas.openxmlformats.org/officeDocument/2006/relationships" id="265" r:id="R8ad29be946df4a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b54203a187419d" /><Relationship Type="http://schemas.openxmlformats.org/officeDocument/2006/relationships/slideMaster" Target="/ppt/slideMasters/slideMaster1.xml" Id="R1449390deb5e49e9" /><Relationship Type="http://schemas.openxmlformats.org/officeDocument/2006/relationships/notesMaster" Target="/ppt/notesMasters/notesMaster1.xml" Id="Raa7e83be51b643f9" /><Relationship Type="http://schemas.openxmlformats.org/officeDocument/2006/relationships/presProps" Target="/ppt/presProps.xml" Id="Re1c27a91257d4c11" /><Relationship Type="http://schemas.openxmlformats.org/officeDocument/2006/relationships/tableStyles" Target="/ppt/tableStyles.xml" Id="R02380ae561664aa5" /><Relationship Type="http://schemas.openxmlformats.org/officeDocument/2006/relationships/slide" Target="/ppt/slides/slide1.xml" Id="Rb23e25c1fc634d1d" /><Relationship Type="http://schemas.openxmlformats.org/officeDocument/2006/relationships/slide" Target="/ppt/slides/slide2.xml" Id="Rb93b500925494c5d" /><Relationship Type="http://schemas.openxmlformats.org/officeDocument/2006/relationships/slide" Target="/ppt/slides/slide3.xml" Id="Rec628a3795a24c1d" /><Relationship Type="http://schemas.openxmlformats.org/officeDocument/2006/relationships/slide" Target="/ppt/slides/slide4.xml" Id="R6113ed4cfde848fa" /><Relationship Type="http://schemas.openxmlformats.org/officeDocument/2006/relationships/slide" Target="/ppt/slides/slide5.xml" Id="Rf0f456fa0287482c" /><Relationship Type="http://schemas.openxmlformats.org/officeDocument/2006/relationships/slide" Target="/ppt/slides/slide6.xml" Id="Rec19f4958f384550" /><Relationship Type="http://schemas.openxmlformats.org/officeDocument/2006/relationships/slide" Target="/ppt/slides/slide7.xml" Id="R70fb0fefa7134fd6" /><Relationship Type="http://schemas.openxmlformats.org/officeDocument/2006/relationships/slide" Target="/ppt/slides/slide8.xml" Id="R6f2f0cae8de54eff" /><Relationship Type="http://schemas.openxmlformats.org/officeDocument/2006/relationships/slide" Target="/ppt/slides/slide9.xml" Id="R7092aaf5def64783" /><Relationship Type="http://schemas.openxmlformats.org/officeDocument/2006/relationships/slide" Target="/ppt/slides/slide10.xml" Id="R8ad29be946df4a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548ac5a77940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f75cbc3abf4959" /><Relationship Type="http://schemas.openxmlformats.org/officeDocument/2006/relationships/notesMaster" Target="/ppt/notesMasters/notesMaster1.xml" Id="R023cfed010ae48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898a6c733642b6" /><Relationship Type="http://schemas.openxmlformats.org/officeDocument/2006/relationships/notesMaster" Target="/ppt/notesMasters/notesMaster1.xml" Id="R882af9585e2f45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a27bea6ead4c93" /><Relationship Type="http://schemas.openxmlformats.org/officeDocument/2006/relationships/notesMaster" Target="/ppt/notesMasters/notesMaster1.xml" Id="Ree704ce95a184b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7cd15c06ca485d" /><Relationship Type="http://schemas.openxmlformats.org/officeDocument/2006/relationships/notesMaster" Target="/ppt/notesMasters/notesMaster1.xml" Id="Rdb8bb2634d5741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272df0bc1b41a7" /><Relationship Type="http://schemas.openxmlformats.org/officeDocument/2006/relationships/notesMaster" Target="/ppt/notesMasters/notesMaster1.xml" Id="Rcaaf8ab1c78048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3d54d677874b90" /><Relationship Type="http://schemas.openxmlformats.org/officeDocument/2006/relationships/notesMaster" Target="/ppt/notesMasters/notesMaster1.xml" Id="R1d91ac02df8644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3a23050f80477b" /><Relationship Type="http://schemas.openxmlformats.org/officeDocument/2006/relationships/notesMaster" Target="/ppt/notesMasters/notesMaster1.xml" Id="R037f8e39fddf42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b1535502644f8f" /><Relationship Type="http://schemas.openxmlformats.org/officeDocument/2006/relationships/notesMaster" Target="/ppt/notesMasters/notesMaster1.xml" Id="R966fba50474747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a8869b9f8a4a82" /><Relationship Type="http://schemas.openxmlformats.org/officeDocument/2006/relationships/notesMaster" Target="/ppt/notesMasters/notesMaster1.xml" Id="Rb6e7ab97b4704c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ab017fea194972" /><Relationship Type="http://schemas.openxmlformats.org/officeDocument/2006/relationships/notesMaster" Target="/ppt/notesMasters/notesMaster1.xml" Id="R748c5d3cbb6447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d4548ae264b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360bec449f4d86" /><Relationship Type="http://schemas.openxmlformats.org/officeDocument/2006/relationships/slideLayout" Target="/ppt/slideLayouts/slideLayout1.xml" Id="R4077b60d45564c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7b60d45564c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2524385fd4308" /><Relationship Type="http://schemas.openxmlformats.org/officeDocument/2006/relationships/notesSlide" Target="/ppt/notesSlides/notesSlide1.xml" Id="R3fd628ad0ebc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fa503f96f4131" /><Relationship Type="http://schemas.openxmlformats.org/officeDocument/2006/relationships/notesSlide" Target="/ppt/notesSlides/notesSlide2.xml" Id="R7ebf400acdaf4f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2b60fed2049d3" /><Relationship Type="http://schemas.openxmlformats.org/officeDocument/2006/relationships/notesSlide" Target="/ppt/notesSlides/notesSlide3.xml" Id="Ree9746752e0947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e5e8436d642c9" /><Relationship Type="http://schemas.openxmlformats.org/officeDocument/2006/relationships/notesSlide" Target="/ppt/notesSlides/notesSlide4.xml" Id="R78edd8d517a540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3a2c2594d43d7" /><Relationship Type="http://schemas.openxmlformats.org/officeDocument/2006/relationships/notesSlide" Target="/ppt/notesSlides/notesSlide5.xml" Id="Rc90fd305c8424b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af92897be4ac6" /><Relationship Type="http://schemas.openxmlformats.org/officeDocument/2006/relationships/notesSlide" Target="/ppt/notesSlides/notesSlide6.xml" Id="Rbcd75130499a43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4f68d742e4f39" /><Relationship Type="http://schemas.openxmlformats.org/officeDocument/2006/relationships/notesSlide" Target="/ppt/notesSlides/notesSlide7.xml" Id="R3742235eebed4b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c9fb77a5b438e" /><Relationship Type="http://schemas.openxmlformats.org/officeDocument/2006/relationships/notesSlide" Target="/ppt/notesSlides/notesSlide8.xml" Id="R0e18b988dc4544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ead84645b44f8" /><Relationship Type="http://schemas.openxmlformats.org/officeDocument/2006/relationships/notesSlide" Target="/ppt/notesSlides/notesSlide9.xml" Id="Rdc449bedbf5c4b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a3838964e42c1" /><Relationship Type="http://schemas.openxmlformats.org/officeDocument/2006/relationships/notesSlide" Target="/ppt/notesSlides/notesSlide10.xml" Id="R12a43fc586bb4f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E2A76-E977-495C-A7B8-C1027850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solidFill>
              <a:srgbClr val="175CD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52D4D-31BE-4A95-91C3-F1508F8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D9635-3875-44D3-AD9B-1624F82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752475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Más pipeline ejecutable por SDR,
sin escalar headcount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00BA3-A339-478E-93BC-8AD7E3A2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6858000" cy="904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Batch OS para validar, deduplicar, verificar contactabilidad y enriquecer leads con AI — con impacto y fallos medibles.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9A2BC-3F22-4C7F-BE74-8558676B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181100"/>
            <a:ext cx="2724150" cy="3429000"/>
          </a:xfrm>
          <a:prstGeom xmlns:a="http://schemas.openxmlformats.org/drawingml/2006/main" prst="roundRect">
            <a:avLst>
              <a:gd name="adj" fmla="val 139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050EF-B6EB-44DB-9CE0-825EC949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5049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TESIS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D49E1-647A-400C-AC04-4A6980A1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981200"/>
            <a:ext cx="20764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La arquitectura protege las reglas críticas y permite cambiar proveedores.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F3848-DAAC-47BE-B503-997132A5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057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No intenté construir una plataforma enterprise dentro de un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908A9-0874-4D04-989B-72557062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3143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Caso técnico · Julio 2026</a:t>
            </a:r>
          </a:p>
        </p:txBody>
      </p:sp>
    </p:spTree>
    <p:extLst>
      <p:ext uri="{BB962C8B-B14F-4D97-AF65-F5344CB8AC3E}">
        <p14:creationId xmlns:p14="http://schemas.microsoft.com/office/powerpoint/2010/main" val="989294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4166C-1B2A-4340-BEB3-994CEAD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32495-1670-44EC-BA71-F305B9A7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El MVP convierte 20 leads en una cola accionable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9F58D-2867-4DD3-B2D9-933E99E4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B9527-17E3-4089-A72C-1D8A78C3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42900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E65BF-DAD4-45F0-8AF9-4D9F7244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15240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6D2BE-E1F4-437E-8B3B-B06A201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LEADS INGRESADOS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40CD5-745C-41BF-8E68-B2DD2F38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26479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Un batch tolera fallos parciales y mantiene evidencia suficiente para decidir qué reintentar.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4505E-1043-46EE-8AB3-4D216BE7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1A64D-BC35-4A1A-BD85-C1A80DC6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85950"/>
            <a:ext cx="10477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B8E3C-34E3-4117-A572-04193022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180975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AI-ready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23550-4FBE-4334-BD2C-2324E80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24175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80% listo para acción comercial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158C0-F9B6-4021-AE6C-60DBFD4A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57350"/>
            <a:ext cx="3486150" cy="1619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EF3F2"/>
          </a:solidFill>
          <a:ln xmlns:a="http://schemas.openxmlformats.org/drawingml/2006/main" w="9525">
            <a:solidFill>
              <a:srgbClr val="FECD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324D9A-56F0-4A0A-98CB-2459A3BD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857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6AFC1-F8CE-49EB-ADD5-65B6DF8F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71750"/>
            <a:ext cx="2095500" cy="257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fallos visibles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92755-ADD4-45E1-B417-C8D2EA5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24175"/>
            <a:ext cx="2857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2 duplicados · 2 inputs inválidos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5DC2A-A799-480A-B9F3-0C1507C5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1B7F37-6554-4538-85A5-2A9B9B8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API</a:t>
            </a:r>
          </a:p>
        </p:txBody>
      </p:sp>
      <p:cxnSp>
        <p:nvCxnSpPr>
          <p:cNvPr id="212" name=""/>
          <p:cNvCxnSpPr/>
          <p:nvPr/>
        </p:nvCxnSpPr>
        <p:spPr>
          <a:xfrm xmlns:a="http://schemas.openxmlformats.org/drawingml/2006/main">
            <a:off x="5048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BDF861-9A95-4AFC-8510-DACADFE9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57600"/>
            <a:ext cx="1028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C8136-2752-4FF6-BA6D-CCC4E268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714750"/>
            <a:ext cx="838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QUEUE</a:t>
            </a:r>
          </a:p>
        </p:txBody>
      </p:sp>
      <p:cxnSp>
        <p:nvCxnSpPr>
          <p:cNvPr id="215" name=""/>
          <p:cNvCxnSpPr/>
          <p:nvPr/>
        </p:nvCxnSpPr>
        <p:spPr>
          <a:xfrm xmlns:a="http://schemas.openxmlformats.org/drawingml/2006/main">
            <a:off x="65913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69D58-DF3B-4C78-83DA-21C7217E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51809-B421-4FE1-83CC-B7269ED1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933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WORKER</a:t>
            </a:r>
          </a:p>
        </p:txBody>
      </p:sp>
      <p:cxnSp>
        <p:nvCxnSpPr>
          <p:cNvPr id="218" name=""/>
          <p:cNvCxnSpPr/>
          <p:nvPr/>
        </p:nvCxnSpPr>
        <p:spPr>
          <a:xfrm xmlns:a="http://schemas.openxmlformats.org/drawingml/2006/main">
            <a:off x="822960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52E34-98D0-4507-9DD9-D942F82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EB6BB1-2B97-421A-A198-B0FDA73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AI</a:t>
            </a:r>
          </a:p>
        </p:txBody>
      </p:sp>
      <p:cxnSp>
        <p:nvCxnSpPr>
          <p:cNvPr id="221" name=""/>
          <p:cNvCxnSpPr/>
          <p:nvPr/>
        </p:nvCxnSpPr>
        <p:spPr>
          <a:xfrm xmlns:a="http://schemas.openxmlformats.org/drawingml/2006/main">
            <a:off x="9620250" y="3800475"/>
            <a:ext cx="5143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5F73FE-3C66-41AF-BD8F-B10B4E71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576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356C04-349F-4AAB-A2C2-2E9BE5D3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14750"/>
            <a:ext cx="68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UI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61009-2DFB-4348-8F0F-73A256A0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DEMO REPRODUCIBLE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1359AE-A068-43B1-A7CB-0C9894EC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876800"/>
            <a:ext cx="6896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Providers demo por defecto; providers live habilitados por configuración.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79597-88A9-44FB-813D-CBE16ECD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Resultado esperado del fixture incluido en 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941305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613A2-0BDB-49A9-BAAD-B17E88D0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3EE90-F432-44D1-B00E-0553F8DC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Hexagonal donde importa: providers cambian, reglas 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A47C0-62E7-46E1-8010-27A6866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cxnSp>
        <p:nvCxnSpPr>
          <p:cNvPr id="72" name=""/>
          <p:cNvCxnSpPr/>
          <p:nvPr/>
        </p:nvCxnSpPr>
        <p:spPr>
          <a:xfrm xmlns:a="http://schemas.openxmlformats.org/drawingml/2006/main">
            <a:off x="22479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73" name=""/>
          <p:cNvCxnSpPr/>
          <p:nvPr/>
        </p:nvCxnSpPr>
        <p:spPr>
          <a:xfrm xmlns:a="http://schemas.openxmlformats.org/drawingml/2006/main">
            <a:off x="451485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71628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9639300" y="313372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75CD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74D73-B1F9-4010-83AA-ACDE13A1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17907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3A78D-1F00-4187-ADFD-B1477AC7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Entradas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C279-AFEF-4598-AC90-8114070F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3335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1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NestJS API
BullMQ consumers
Next.js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900D-4BCD-4872-99DE-0DDF7FF3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05050"/>
            <a:ext cx="171450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9AB91-2FD4-4F2E-8925-0816F5AD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D6D25-24E1-4FF7-9C77-F55CC269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3525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Use cases
Idempotencia
Transacciones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F5237-ED45-47FA-B4AE-9225749C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76450"/>
            <a:ext cx="2095500" cy="21145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BB947-D7DE-437F-87AE-C2E38A41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43150"/>
            <a:ext cx="1428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Domain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59BAA4-0657-4CDA-ADF6-80F6E631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38450"/>
            <a:ext cx="16002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Batch · Lead
State machine
Reglas puras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51CE1-311C-4CD5-A4C5-264F6EE3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9240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43158E-271B-4E4D-93B2-7C949900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Puertos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CDF00C-2514-4C7A-93A7-0D51FEDB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14668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Repositorios
Queue · Info · AI
Webhook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68B12-A72B-4C50-888F-7A618215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543050" cy="238125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1691E1-3B39-44B4-AA60-494C8B3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9075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Adaptadores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76BB0C-FAA3-4CE3-90A0-BC7C8E1A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9850"/>
            <a:ext cx="121920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Prisma
Redis
HTTP + Search
OpenAI
Webhook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949C8A-6798-4475-9F3F-2F6B90B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1127760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2E76B6-69C7-43DD-8D6D-9387C2DB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CRITERIO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F6285-3BF7-4E3C-A2BE-88A3DB5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9182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Sólo hay interfaces donde existe una falla o sustitución real. Sin repositorios genéricos, factories ceremoniales ni dominio acoplado a NestJS.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72D328-8488-498C-8C08-98C221CD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704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API y worker comparten Domain/Application para evitar reglas divergentes.</a:t>
            </a:r>
          </a:p>
        </p:txBody>
      </p:sp>
    </p:spTree>
    <p:extLst>
      <p:ext uri="{BB962C8B-B14F-4D97-AF65-F5344CB8AC3E}">
        <p14:creationId xmlns:p14="http://schemas.microsoft.com/office/powerpoint/2010/main" val="1525292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B3934-D35B-488F-97B8-E8C62C21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30308-796E-42FE-BC9C-1EE68E71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Cada transición es auditable; cada fallo tiene un dueño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4C734-7C6C-42ED-AFDE-CAC7DAFD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cxnSp>
        <p:nvCxnSpPr>
          <p:cNvPr id="140" name=""/>
          <p:cNvCxnSpPr/>
          <p:nvPr/>
        </p:nvCxnSpPr>
        <p:spPr>
          <a:xfrm xmlns:a="http://schemas.openxmlformats.org/drawingml/2006/main">
            <a:off x="1143000" y="2914650"/>
            <a:ext cx="904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101828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BD670-C36F-4AB5-BB0B-E6629988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B0F74-6556-4C27-BB3E-5DD83FB9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28925"/>
            <a:ext cx="876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pending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137A5-4A9C-4659-B600-8AEC4965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71775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EFF8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05B45-C984-4AE9-9892-E34AC420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28925"/>
            <a:ext cx="1066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D4AAE-0219-4450-B8C3-D4102CEF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71775"/>
            <a:ext cx="952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CA6B6-F44E-4F9B-82D0-75FF5075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28925"/>
            <a:ext cx="76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ready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A83E4-08D1-4793-899F-123BFD91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71775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FFA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36E17-C9C6-45CB-A7FC-4B90885D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28925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ai_enriching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EEDA5-9F9F-4A0F-B381-B73B8258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71775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ECF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EE89B-FE5D-4E97-8F1C-3D215C53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28925"/>
            <a:ext cx="95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ai_ready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988B6-23DF-4538-AFBC-02DD8B4A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43300"/>
            <a:ext cx="876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failed</a:t>
            </a:r>
          </a:p>
        </p:txBody>
      </p:sp>
      <p:cxnSp>
        <p:nvCxnSpPr>
          <p:cNvPr id="152" name=""/>
          <p:cNvCxnSpPr/>
          <p:nvPr/>
        </p:nvCxnSpPr>
        <p:spPr>
          <a:xfrm xmlns:a="http://schemas.openxmlformats.org/drawingml/2006/main">
            <a:off x="30861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13217-801E-4435-A269-11FFD9E3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43300"/>
            <a:ext cx="1104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ai_failed</a:t>
            </a:r>
          </a:p>
        </p:txBody>
      </p:sp>
      <p:cxnSp>
        <p:nvCxnSpPr>
          <p:cNvPr id="154" name=""/>
          <p:cNvCxnSpPr/>
          <p:nvPr/>
        </p:nvCxnSpPr>
        <p:spPr>
          <a:xfrm xmlns:a="http://schemas.openxmlformats.org/drawingml/2006/main">
            <a:off x="6934200" y="3105150"/>
            <a:ext cx="286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42318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91488-9EA2-409E-922A-A615AB04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BBD7D-B2EB-469E-818B-0EF669F6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42318"/>
                </a:solidFill>
                <a:latin typeface="Helvetica Neue"/>
                <a:ea typeface="Helvetica Neue"/>
                <a:cs typeface="Helvetica Neue"/>
              </a:defRPr>
            </a:pPr>
            <a:r>
              <a:t>PERMANENTE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4F010-EA2B-4E97-9CBB-4911AB58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Input inválido o duplicado: no se reencola.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B6059-93C6-4988-9518-70B34C6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419600"/>
            <a:ext cx="337185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AD1BB-A32E-4475-9A95-A583D2EE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57725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REINTENTABLE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25F24-FD96-474F-B749-C60D760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00625"/>
            <a:ext cx="2800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Red, rate limit o 5xx: 3 intentos con backoff.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8C5F0-7F60-4653-801E-DC36FBABF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40386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36F84-AC26-4A73-AEF6-3B5FC50A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57725"/>
            <a:ext cx="1428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EVENTO ÚNICO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0FABE7-98DF-479B-83FB-A6E5B4E5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00625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Webhook at-least-once + Idempotency-Key.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6B2358-041C-46E2-B022-5BE2AD37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8191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batch completa aunque existan fallos parciales; cada transición genera BatchEvent.</a:t>
            </a:r>
          </a:p>
        </p:txBody>
      </p:sp>
    </p:spTree>
    <p:extLst>
      <p:ext uri="{BB962C8B-B14F-4D97-AF65-F5344CB8AC3E}">
        <p14:creationId xmlns:p14="http://schemas.microsoft.com/office/powerpoint/2010/main" val="67169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D01B-F87D-4F31-AD5A-0FF25D3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E680-FA54-4C99-B0FE-4828E63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El prompt reduce libertad donde una alucinación sería costosa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1D08-7367-43BB-8F0C-AF41D4E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B360-5E97-4A8D-AD89-28B90D8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6701-C37D-4166-BCEF-75EB7F8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EXTRACTO DEL PROMPT REAL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7E1E-4FE3-43E9-909E-3A60178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286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Usa sólo evidencia.
No inventes hechos financieros.
Declara el pain como hipótesis.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50A8-622A-4426-B173-D69228C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05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Rol Growth B2B + español claro + 1–2 frases. Menos libertad factual; mejor trazabilidad.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186F-F09D-4638-A686-D38C45A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573405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A49A1-67C1-4F13-9CC4-3A94D0D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206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POR QUÉ ESTÁ ESTRUCTURADO ASÍ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3198-D950-4287-BEE5-33547B3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00C84-CD99-4DB2-A357-5C9F51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Grounding primero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452C-0FBD-4D6A-8FD2-7DF41EE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Sitio + fuente externa; el modelo no completa vacíos.</a:t>
            </a:r>
          </a:p>
        </p:txBody>
      </p:sp>
      <p:cxnSp>
        <p:nvCxnSpPr>
          <p:cNvPr id="139" name=""/>
          <p:cNvCxnSpPr/>
          <p:nvPr/>
        </p:nvCxnSpPr>
        <p:spPr>
          <a:xfrm xmlns:a="http://schemas.openxmlformats.org/drawingml/2006/main">
            <a:off x="6286500" y="31432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F1E5-7AC1-4BD6-9984-E8BDA16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2BAF-CA3F-43E3-B190-B3A7FFF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Contrato estricto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36E0-60B9-41D3-BDEA-D240690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Outputs + Zod validan seis campos tipados.</a:t>
            </a:r>
          </a:p>
        </p:txBody>
      </p:sp>
      <p:cxnSp>
        <p:nvCxnSpPr>
          <p:cNvPr id="143" name=""/>
          <p:cNvCxnSpPr/>
          <p:nvPr/>
        </p:nvCxnSpPr>
        <p:spPr>
          <a:xfrm xmlns:a="http://schemas.openxmlformats.org/drawingml/2006/main">
            <a:off x="6286500" y="41148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16E6-4634-444E-9055-4FF7FC2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639AD-91E0-4C9D-A73F-A1E38CC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Privacidad por diseño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1D9A4-F613-4697-A894-F14D9AD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store:false; sólo datos públicos, sin secretos ni PII.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AF217-8AD7-4B0F-8CEF-D30E937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1104E-F8BA-4548-90CB-9FB00A2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OUTPUT: score · opener · pain ·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92847-8717-498D-B36A-48BDDDA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gpt-5-mini · reasoning low · 1.200 tokens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DCEB-3112-4F53-89C2-3D746EE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Prompt real: packages/infrastructure/src/providers.ts · Structured Outputs validado con Zod.</a:t>
            </a:r>
          </a:p>
        </p:txBody>
      </p:sp>
    </p:spTree>
    <p:extLst>
      <p:ext uri="{BB962C8B-B14F-4D97-AF65-F5344CB8AC3E}">
        <p14:creationId xmlns:p14="http://schemas.microsoft.com/office/powerpoint/2010/main" val="629013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D01B-F87D-4F31-AD5A-0FF25D3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E680-FA54-4C99-B0FE-4828E63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9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La calidad se valida offline, con SDRs y luego con impacto causal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1D08-7367-43BB-8F0C-AF41D4E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B360-5E97-4A8D-AD89-28B90D8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6701-C37D-4166-BCEF-75EB7F8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GOLDEN SET PROPUESTO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7E1E-4FE3-43E9-909E-3A60178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286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100–200 empresas
Chile + México
casos normales y adversariales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50A8-622A-4426-B173-D69228C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05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Etiquetas humanas: factualidad, fit, evidencia, utilidad comercial y severidad del error.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186F-F09D-4638-A686-D38C45A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573405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A49A1-67C1-4F13-9CC4-3A94D0D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LOOP DE CALIDAD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3198-D950-4287-BEE5-33547B3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00C84-CD99-4DB2-A357-5C9F51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Gate offline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452C-0FBD-4D6A-8FD2-7DF41EE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Targets: parse ≥99% · factualidad ≥95% · evidencia ≥90%</a:t>
            </a:r>
          </a:p>
        </p:txBody>
      </p:sp>
      <p:cxnSp>
        <p:nvCxnSpPr>
          <p:cNvPr id="139" name=""/>
          <p:cNvCxnSpPr/>
          <p:nvPr/>
        </p:nvCxnSpPr>
        <p:spPr>
          <a:xfrm xmlns:a="http://schemas.openxmlformats.org/drawingml/2006/main">
            <a:off x="6286500" y="31432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F1E5-7AC1-4BD6-9984-E8BDA16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2BAF-CA3F-43E3-B190-B3A7FFF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0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Judge + revisión humana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36E0-60B9-41D3-BDEA-D240690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Judge aplica rúbrica; humano revisa desacuerdos críticos.</a:t>
            </a:r>
          </a:p>
        </p:txBody>
      </p:sp>
      <p:cxnSp>
        <p:nvCxnSpPr>
          <p:cNvPr id="143" name=""/>
          <p:cNvCxnSpPr/>
          <p:nvPr/>
        </p:nvCxnSpPr>
        <p:spPr>
          <a:xfrm xmlns:a="http://schemas.openxmlformats.org/drawingml/2006/main">
            <a:off x="6286500" y="41148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16E6-4634-444E-9055-4FF7FC2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639AD-91E0-4C9D-A73F-A1E38CC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Feedback + A/B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1D9A4-F613-4697-A894-F14D9AD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SDR útil/no útil; A/B mide reply rate y enrolados.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AF217-8AD7-4B0F-8CEF-D30E937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1104E-F8BA-4548-90CB-9FB00A2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64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ESCALAR: calidad + reply rate, sin más riesgo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92847-8717-498D-B36A-48BDDDA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Drift semanal · fallos · versión prompt/modelo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DCEB-3112-4F53-89C2-3D746EE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Targets propuestos para producción; no representan resultados observados.</a:t>
            </a:r>
          </a:p>
        </p:txBody>
      </p:sp>
    </p:spTree>
    <p:extLst>
      <p:ext uri="{BB962C8B-B14F-4D97-AF65-F5344CB8AC3E}">
        <p14:creationId xmlns:p14="http://schemas.microsoft.com/office/powerpoint/2010/main" val="6290138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ACD01B-F87D-4F31-AD5A-0FF25D30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DE680-FA54-4C99-B0FE-4828E63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 10K/mes, costo y fallos dominan el diseño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B1D08-7367-43BB-8F0C-AF41D4E3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FB360-5E97-4A8D-AD89-28B90D8B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525780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6701-C37D-4166-BCEF-75EB7F8A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CAPACIDAD ESTIMADA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57E1E-4FE3-43E9-909E-3A60178F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286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USD 11,34 / 10K
12 s / empresa
6,7 h backfill (c=5)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7650A8-622A-4426-B173-D69228C6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43053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D5DD"/>
                </a:solidFill>
                <a:latin typeface="Helvetica Neue"/>
                <a:ea typeface="Helvetica Neue"/>
                <a:cs typeface="Helvetica Neue"/>
              </a:defRPr>
            </a:pPr>
            <a:r>
              <a:t>Base observada: 854 tokens y USD 0,001134 por lead. Dos muestras no permiten declarar p95.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F186F-F09D-4638-A686-D38C45A3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00200"/>
            <a:ext cx="5734050" cy="37338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A49A1-67C1-4F13-9CC4-3A94D0D0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1619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OPERACIÓN Y RIESGOS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3198-D950-4287-BEE5-33547B30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00C84-CD99-4DB2-A357-5C9F51EB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03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Fallar sin contaminar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E452C-0FBD-4D6A-8FD2-7DF41EEC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241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Site↓: fuente externa · LLM/parse: ai_failed; sin demo.</a:t>
            </a:r>
          </a:p>
        </p:txBody>
      </p:sp>
      <p:cxnSp>
        <p:nvCxnSpPr>
          <p:cNvPr id="139" name=""/>
          <p:cNvCxnSpPr/>
          <p:nvPr/>
        </p:nvCxnSpPr>
        <p:spPr>
          <a:xfrm xmlns:a="http://schemas.openxmlformats.org/drawingml/2006/main">
            <a:off x="6286500" y="314325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F1E5-7AC1-4BD6-9984-E8BDA16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02BAF-CA3F-43E3-B190-B3A7FFF6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Optimizar en este orden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236E0-60B9-41D3-BDEA-D2406904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34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Cache → gate → concurrencia → modelo menor → Batch API</a:t>
            </a:r>
          </a:p>
        </p:txBody>
      </p:sp>
      <p:cxnSp>
        <p:nvCxnSpPr>
          <p:cNvPr id="143" name=""/>
          <p:cNvCxnSpPr/>
          <p:nvPr/>
        </p:nvCxnSpPr>
        <p:spPr>
          <a:xfrm xmlns:a="http://schemas.openxmlformats.org/drawingml/2006/main">
            <a:off x="6286500" y="4114800"/>
            <a:ext cx="495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916E6-4634-444E-9055-4FF7FC29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243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639AD-91E0-4C9D-A73F-A1E38CCA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Riesgos con controles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1D9A4-F613-4697-A894-F14D9AD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67250"/>
            <a:ext cx="4095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Grounding · slices por país · data mínima + store:false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AF217-8AD7-4B0F-8CEF-D30E9378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77600" cy="4953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9525">
            <a:solidFill>
              <a:srgbClr val="B2D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1104E-F8BA-4548-90CB-9FB00A22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457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10K: USD 11,34 · p95 objetivo &lt;20 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392847-8717-498D-B36A-48BDDDA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629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Budget: hard cap + circuit breaker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6DCEB-3112-4F53-89C2-3D746EEC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666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Orden: caching → gate evidencia → concurrencia → modelo menor → Batch API. Search/infra aparte.</a:t>
            </a:r>
          </a:p>
        </p:txBody>
      </p:sp>
    </p:spTree>
    <p:extLst>
      <p:ext uri="{BB962C8B-B14F-4D97-AF65-F5344CB8AC3E}">
        <p14:creationId xmlns:p14="http://schemas.microsoft.com/office/powerpoint/2010/main" val="6290138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A9F724-D10B-4CD4-880D-00F8050D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7874A-1A1D-499A-B58C-96072F22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Priorizaría contactabilidad antes que escalar ice-breakers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62749-9C89-487E-B5A6-1F27CB9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9A85B-4A8F-4F8F-8349-9E21845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1277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C251F-4314-4A98-98F6-6BF4CCA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621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510E0-E241-41A8-BAF9-7B955219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27813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INICIATIVA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BDC26E-FB1B-4C8C-A6F7-D60FCF0C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62125"/>
            <a:ext cx="2724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MÉTRICA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2614C-9294-44E6-88B8-A97F4CA7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762125"/>
            <a:ext cx="819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ESF.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78117-B1DC-47EC-84AE-17B39C03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DECISIÓN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E0429-BA10-4018-8368-C4B46486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8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B4716-448D-4766-99D0-7887575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FC539-9998-4A48-9A9B-CF523778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Contactabilidad mejorada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C1AD4-492E-4DCB-AFFE-D39B01B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Contact rate · enrolados/SDR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345C7-6FB2-4FA0-A375-0D11AA88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465E8-0E49-4108-92AF-7C635112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datos · construir orquestación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63D0B9-FE09-4D4F-A031-470AAB8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9CA91-67DF-4D59-B1DC-8E13067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861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DFAC08-C502-4A81-851F-B2FF1D69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Matching multi-fuente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15017-ABCC-4D81-A097-AE2BF590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Intentos sobre leads únicos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68E33-01DC-4FE7-9EC0-7DCBB67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670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FC0C8-0320-4486-A3BC-7B559E2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480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 identidad y reglas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D254B-5533-409B-834B-9B6D73DD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5D70F-ACE5-44EB-88D3-7F5A9DFD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C714ED-8426-4A22-9B9E-805EE8B2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AI ice-breakers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45FDD7-DDA9-4E2F-8E44-144D495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Research time · response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A71FDD-1A13-4956-8F7C-5FAEFFFC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9A2E3E-6D96-4BEC-A2B4-04F3E385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LLM/search · construir evals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FC17A-A1C3-47FE-B853-A92A657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277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03C484-F5E4-43FA-A5DE-F4D5B3B3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8B606-5DEB-413C-A7DE-3CA628F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Slack cockpit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508B27-43ED-41D4-A4E9-43541909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2724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Time-to-first-touch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DFC57-3460-49DD-86BD-1B9F1B91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29150"/>
            <a:ext cx="819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2D1432-30C8-43A1-A0F0-46BF526D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3105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Integración delgada tras validar señales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2E786D-4206-41C4-9822-0C02C22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27760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CFBB28-08C2-48D4-88B5-03857C9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POSTERGAR POWER-DIALER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B0FB1A-1EAF-4552-8194-A8E8392B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81650"/>
            <a:ext cx="7981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Esfuerzo L · dependencia de telefonía/transcripción · revisión de datos personales.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B89032-4E53-49B0-BB49-AE68021C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857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Hipótesis: el desperdicio principal está en baja contactabilidad, duplicados y tiempo de research.</a:t>
            </a:r>
          </a:p>
        </p:txBody>
      </p:sp>
    </p:spTree>
    <p:extLst>
      <p:ext uri="{BB962C8B-B14F-4D97-AF65-F5344CB8AC3E}">
        <p14:creationId xmlns:p14="http://schemas.microsoft.com/office/powerpoint/2010/main" val="143970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8AC131-2981-410E-9809-78121F00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57886-40AB-45D5-B7BC-8138D6AB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09537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La iniciativa #1 debe demostrar lift en 4–6 semanas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89270-1B70-46CE-B63F-9606001F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38900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4D3D-6AA3-4A6B-B3B7-DB7B2A1F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9525">
            <a:solidFill>
              <a:srgbClr val="10182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B2D62-4FD6-46AE-A307-BCA722A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238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52ACC-26B5-46AD-B838-B7ED4FCE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SDRs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0975D-9356-4477-A976-A3EAB490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Asignación balanceada
tratamiento vs.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5EC93-532E-401D-8ECC-FF557004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57350"/>
            <a:ext cx="33337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ECFDF3"/>
          </a:solidFill>
          <a:ln xmlns:a="http://schemas.openxmlformats.org/drawingml/2006/main" w="9525">
            <a:solidFill>
              <a:srgbClr val="ABEFC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A95FA-4787-4CCD-BB1F-031C6AE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1809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+8%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9EE3C-76C0-4EBF-8C36-AB9922B2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2890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67647"/>
                </a:solidFill>
                <a:latin typeface="Helvetica Neue"/>
                <a:ea typeface="Helvetica Neue"/>
                <a:cs typeface="Helvetica Neue"/>
              </a:defRPr>
            </a:pPr>
            <a:r>
              <a:t>ÉXITO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A8019-E8F7-47A7-BC61-C50355AA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2476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Enrolados por SDR
por semana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A50C0-B154-4B83-8F53-9FA6B880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57350"/>
            <a:ext cx="411480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AEB"/>
          </a:solidFill>
          <a:ln xmlns:a="http://schemas.openxmlformats.org/drawingml/2006/main" w="9525">
            <a:solidFill>
              <a:srgbClr val="FEDF8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60F5F-7389-40E4-9EA0-78D18D7A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24050"/>
            <a:ext cx="2571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≤ +2 pp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9585A-406C-47E5-8E0A-A756A4D5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289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54708"/>
                </a:solidFill>
                <a:latin typeface="Helvetica Neue"/>
                <a:ea typeface="Helvetica Neue"/>
                <a:cs typeface="Helvetica Neue"/>
              </a:defRPr>
            </a:pPr>
            <a:r>
              <a:t>GUARDRAIL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29931-349D-4320-9CC9-A8D5D87C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1432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Inválidos o rebotes
no empeoran más que esto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C3EA2-830E-45D8-979E-34EE4B64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952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5CD3"/>
                </a:solidFill>
                <a:latin typeface="Helvetica Neue"/>
                <a:ea typeface="Helvetica Neue"/>
                <a:cs typeface="Helvetica Neue"/>
              </a:defRPr>
            </a:pPr>
            <a:r>
              <a:t>DISEÑO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869EF-D1C5-4EAF-96D4-AFC9A19C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6800"/>
            <a:ext cx="1085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Baseline → randomización → 4–6 semanas → lectura causal → decisión de escalar o matar</a:t>
            </a:r>
          </a:p>
        </p:txBody>
      </p:sp>
      <p:cxnSp>
        <p:nvCxnSpPr>
          <p:cNvPr id="147" name=""/>
          <p:cNvCxnSpPr/>
          <p:nvPr/>
        </p:nvCxnSpPr>
        <p:spPr>
          <a:xfrm xmlns:a="http://schemas.openxmlformats.org/drawingml/2006/main">
            <a:off x="457200" y="5448300"/>
            <a:ext cx="112776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0D5DD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5C5B8D-CE93-4A30-A3AA-34B4C228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562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Condición previa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DA149-04BB-4B17-BB9C-17C756F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95950"/>
            <a:ext cx="885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t>Legal/Risk aprueba proveedor y tratamiento de datos antes del experimento.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5B7E0B-B74B-46AF-A7B9-993E010B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91275"/>
            <a:ext cx="7429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t>El éxito se mide en pipeline enrolado, no en cantidad de datos comprados.</a:t>
            </a:r>
          </a:p>
        </p:txBody>
      </p:sp>
    </p:spTree>
    <p:extLst>
      <p:ext uri="{BB962C8B-B14F-4D97-AF65-F5344CB8AC3E}">
        <p14:creationId xmlns:p14="http://schemas.microsoft.com/office/powerpoint/2010/main" val="19864585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9F982-D161-4B25-905C-5DA6D907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solidFill>
              <a:srgbClr val="10182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19B0-C15B-4F08-8091-44F88DC5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CIERRE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A0C658-5504-4BF2-B815-5B6B775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9620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Ship rápido.
Medir impacto.
Estabilizar sólo lo que mueve la métrica.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609600" y="4267200"/>
            <a:ext cx="10668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475467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3B2E-7DA4-42CA-AF27-4307D5C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COMPRAR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ABFD8-4730-4B79-B5B9-13A64F1B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Commodities y cobertura de datos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E950B-A741-44B3-A58D-FB187CB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CONSTRUIR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F9A37-9176-456B-A086-4CFBF663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3238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Aprendizaje del funnel, identidad y orquestación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DB8EB-FC70-4925-84DC-DC0A22C0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67250"/>
            <a:ext cx="152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4CAFF"/>
                </a:solidFill>
                <a:latin typeface="Helvetica Neue"/>
                <a:ea typeface="Helvetica Neue"/>
                <a:cs typeface="Helvetica Neue"/>
              </a:defRPr>
            </a:pPr>
            <a:r>
              <a:t>MATAR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2E1BB-D1B1-4984-93E8-F4FFAEF0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10150"/>
            <a:ext cx="2857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Lo que no mueve enrolamientos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39B6C-502E-489A-86F8-8AB4729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8A2B3"/>
                </a:solidFill>
                <a:latin typeface="Helvetica Neue"/>
                <a:ea typeface="Helvetica Neue"/>
                <a:cs typeface="Helvetica Neue"/>
              </a:defRPr>
            </a:pPr>
            <a:r>
              <a:t>xepelin · growth engineer case</a:t>
            </a:r>
          </a:p>
        </p:txBody>
      </p:sp>
    </p:spTree>
    <p:extLst>
      <p:ext uri="{BB962C8B-B14F-4D97-AF65-F5344CB8AC3E}">
        <p14:creationId xmlns:p14="http://schemas.microsoft.com/office/powerpoint/2010/main" val="1089944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2026-07-22T02:21:28.4740000Z</dcterms:created>
  <dcterms:modified xsi:type="dcterms:W3CDTF">2026-07-22T02:21:28.4740000Z</dcterms:modified>
</coreProperties>
</file>