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f65d135a7b4c4e" /><Relationship Type="http://schemas.openxmlformats.org/officeDocument/2006/relationships/extended-properties" Target="/docProps/app.xml" Id="Rcb0c7afe22984e2a" /><Relationship Type="http://schemas.openxmlformats.org/officeDocument/2006/relationships/officeDocument" Target="/ppt/presentation.xml" Id="R9158849f037b49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33b12537a84f2d"/>
  </p:sldMasterIdLst>
  <p:notesMasterIdLst>
    <p:notesMasterId xmlns:r="http://schemas.openxmlformats.org/officeDocument/2006/relationships" r:id="R58228232d13e44ef"/>
  </p:notesMasterIdLst>
  <p:sldIdLst>
    <p:sldId xmlns:r="http://schemas.openxmlformats.org/officeDocument/2006/relationships" id="256" r:id="R134c1887598c4cd5"/>
    <p:sldId xmlns:r="http://schemas.openxmlformats.org/officeDocument/2006/relationships" id="257" r:id="R3ce1ab9ef8944797"/>
    <p:sldId xmlns:r="http://schemas.openxmlformats.org/officeDocument/2006/relationships" id="258" r:id="R7a20b1505c0b40b5"/>
    <p:sldId xmlns:r="http://schemas.openxmlformats.org/officeDocument/2006/relationships" id="259" r:id="R676842c050a14044"/>
    <p:sldId xmlns:r="http://schemas.openxmlformats.org/officeDocument/2006/relationships" id="260" r:id="R86da58a153ad4438"/>
    <p:sldId xmlns:r="http://schemas.openxmlformats.org/officeDocument/2006/relationships" id="261" r:id="Rb59a0e33a5304c60"/>
    <p:sldId xmlns:r="http://schemas.openxmlformats.org/officeDocument/2006/relationships" id="262" r:id="R21fe86901de24e62"/>
    <p:sldId xmlns:r="http://schemas.openxmlformats.org/officeDocument/2006/relationships" id="263" r:id="R1357d902f1ed4c8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e4efe08e84475f" /><Relationship Type="http://schemas.openxmlformats.org/officeDocument/2006/relationships/slideMaster" Target="/ppt/slideMasters/slideMaster1.xml" Id="Rec33b12537a84f2d" /><Relationship Type="http://schemas.openxmlformats.org/officeDocument/2006/relationships/notesMaster" Target="/ppt/notesMasters/notesMaster1.xml" Id="R58228232d13e44ef" /><Relationship Type="http://schemas.openxmlformats.org/officeDocument/2006/relationships/presProps" Target="/ppt/presProps.xml" Id="R794c7e7aeaa94703" /><Relationship Type="http://schemas.openxmlformats.org/officeDocument/2006/relationships/tableStyles" Target="/ppt/tableStyles.xml" Id="Re96b993e0d674192" /><Relationship Type="http://schemas.openxmlformats.org/officeDocument/2006/relationships/slide" Target="/ppt/slides/slide1.xml" Id="R134c1887598c4cd5" /><Relationship Type="http://schemas.openxmlformats.org/officeDocument/2006/relationships/slide" Target="/ppt/slides/slide2.xml" Id="R3ce1ab9ef8944797" /><Relationship Type="http://schemas.openxmlformats.org/officeDocument/2006/relationships/slide" Target="/ppt/slides/slide3.xml" Id="R7a20b1505c0b40b5" /><Relationship Type="http://schemas.openxmlformats.org/officeDocument/2006/relationships/slide" Target="/ppt/slides/slide4.xml" Id="R676842c050a14044" /><Relationship Type="http://schemas.openxmlformats.org/officeDocument/2006/relationships/slide" Target="/ppt/slides/slide5.xml" Id="R86da58a153ad4438" /><Relationship Type="http://schemas.openxmlformats.org/officeDocument/2006/relationships/slide" Target="/ppt/slides/slide6.xml" Id="Rb59a0e33a5304c60" /><Relationship Type="http://schemas.openxmlformats.org/officeDocument/2006/relationships/slide" Target="/ppt/slides/slide7.xml" Id="R21fe86901de24e62" /><Relationship Type="http://schemas.openxmlformats.org/officeDocument/2006/relationships/slide" Target="/ppt/slides/slide8.xml" Id="R1357d902f1ed4c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082db209da42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e0222c0c3d4688" /><Relationship Type="http://schemas.openxmlformats.org/officeDocument/2006/relationships/notesMaster" Target="/ppt/notesMasters/notesMaster1.xml" Id="R8b0018b667564f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d71e1e7a3f43ce" /><Relationship Type="http://schemas.openxmlformats.org/officeDocument/2006/relationships/notesMaster" Target="/ppt/notesMasters/notesMaster1.xml" Id="Rc58d4d78944743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f9e5ffd4844769" /><Relationship Type="http://schemas.openxmlformats.org/officeDocument/2006/relationships/notesMaster" Target="/ppt/notesMasters/notesMaster1.xml" Id="R026b41cf81e340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0fcd4193ae4a0e" /><Relationship Type="http://schemas.openxmlformats.org/officeDocument/2006/relationships/notesMaster" Target="/ppt/notesMasters/notesMaster1.xml" Id="Rb6bfeef420e142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dc6ffeacf54b42" /><Relationship Type="http://schemas.openxmlformats.org/officeDocument/2006/relationships/notesMaster" Target="/ppt/notesMasters/notesMaster1.xml" Id="R474e4af36a8b4c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df24aa1e6a4581" /><Relationship Type="http://schemas.openxmlformats.org/officeDocument/2006/relationships/notesMaster" Target="/ppt/notesMasters/notesMaster1.xml" Id="Re119798f6ddc4b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6aa976a84b49e2" /><Relationship Type="http://schemas.openxmlformats.org/officeDocument/2006/relationships/notesMaster" Target="/ppt/notesMasters/notesMaster1.xml" Id="Re56a1171eeba49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9c5ffbe14a41b0" /><Relationship Type="http://schemas.openxmlformats.org/officeDocument/2006/relationships/notesMaster" Target="/ppt/notesMasters/notesMaster1.xml" Id="R8cdaa52e7c954f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ddeda004e47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bb4d91f5d74cd2" /><Relationship Type="http://schemas.openxmlformats.org/officeDocument/2006/relationships/slideLayout" Target="/ppt/slideLayouts/slideLayout1.xml" Id="R97024fa295e948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024fa295e948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8e811470d4c7a" /><Relationship Type="http://schemas.openxmlformats.org/officeDocument/2006/relationships/notesSlide" Target="/ppt/notesSlides/notesSlide1.xml" Id="R1b9ba999cc794a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23ed846a341e4" /><Relationship Type="http://schemas.openxmlformats.org/officeDocument/2006/relationships/notesSlide" Target="/ppt/notesSlides/notesSlide2.xml" Id="R37fc6c4a204a42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551325aaa44e9" /><Relationship Type="http://schemas.openxmlformats.org/officeDocument/2006/relationships/notesSlide" Target="/ppt/notesSlides/notesSlide3.xml" Id="Rb59950594b5c4c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737c782bc4d3a" /><Relationship Type="http://schemas.openxmlformats.org/officeDocument/2006/relationships/notesSlide" Target="/ppt/notesSlides/notesSlide4.xml" Id="R8743410d359e48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470129f4747f6" /><Relationship Type="http://schemas.openxmlformats.org/officeDocument/2006/relationships/notesSlide" Target="/ppt/notesSlides/notesSlide5.xml" Id="R73c480a8be814c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b1b1f0be24cec" /><Relationship Type="http://schemas.openxmlformats.org/officeDocument/2006/relationships/notesSlide" Target="/ppt/notesSlides/notesSlide6.xml" Id="Rf9e994f773074f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d5ff18a6d4b29" /><Relationship Type="http://schemas.openxmlformats.org/officeDocument/2006/relationships/notesSlide" Target="/ppt/notesSlides/notesSlide7.xml" Id="R17de6e7238b74d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d15d87212404e" /><Relationship Type="http://schemas.openxmlformats.org/officeDocument/2006/relationships/notesSlide" Target="/ppt/notesSlides/notesSlide8.xml" Id="Rb1a7cebb5b0f49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8E2A76-E977-495C-A7B8-C1027850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175C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52D4D-31BE-4A95-91C3-F1508F85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D9635-3875-44D3-AD9B-1624F826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752475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982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Más pipeline ejecutable por SDR,
sin escalar headcount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00BA3-A339-478E-93BC-8AD7E3A2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68580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Batch OS para validar, deduplicar, verificar contactabilidad y enriquecer leads con AI — con impacto y fallos medibles.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9A2BC-3F22-4C7F-BE74-8558676B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181100"/>
            <a:ext cx="2724150" cy="3429000"/>
          </a:xfrm>
          <a:prstGeom xmlns:a="http://schemas.openxmlformats.org/drawingml/2006/main" prst="roundRect">
            <a:avLst>
              <a:gd name="adj" fmla="val 1399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050EF-B6EB-44DB-9CE0-825EC949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5049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TESIS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D49E1-647A-400C-AC04-4A6980A1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81200"/>
            <a:ext cx="20764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024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La arquitectura protege las reglas críticas y permite cambiar proveedores.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F3848-DAAC-47BE-B503-997132A5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24250"/>
            <a:ext cx="2057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defRPr>
            </a:pPr>
            <a:r>
              <a:t>No intenté construir una plataforma enterprise dentro de un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908A9-0874-4D04-989B-72557062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Caso técnico · Julio 2026</a:t>
            </a:r>
          </a:p>
        </p:txBody>
      </p:sp>
    </p:spTree>
    <p:extLst>
      <p:ext uri="{BB962C8B-B14F-4D97-AF65-F5344CB8AC3E}">
        <p14:creationId xmlns:p14="http://schemas.microsoft.com/office/powerpoint/2010/main" val="989294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A4166C-1B2A-4340-BEB3-994CEAD2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32495-1670-44EC-BA71-F305B9A7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El MVP convierte 20 leads en una cola accionable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9F58D-2867-4DD3-B2D9-933E99E4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B9527-17E3-4089-A72C-1D8A78C3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3429000" cy="3429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E65BF-DAD4-45F0-8AF9-4D9F7244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524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6D2BE-E1F4-437E-8B3B-B06A201C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LEADS INGRESADOS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40CD5-745C-41BF-8E68-B2DD2F38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6479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Un batch tolera fallos parciales y mantiene evidencia suficiente para decidir qué reintentar.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4505E-1043-46EE-8AB3-4D216BE7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57350"/>
            <a:ext cx="3486150" cy="16192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1A64D-BC35-4A1A-BD85-C1A80DC6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85950"/>
            <a:ext cx="1047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B8E3C-34E3-4117-A572-04193022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18097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AI-ready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23550-4FBE-4334-BD2C-2324E807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24175"/>
            <a:ext cx="2724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80% listo para acción comercial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158C0-F9B6-4021-AE6C-60DBFD4A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57350"/>
            <a:ext cx="3486150" cy="16192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ECD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24D9A-56F0-4A0A-98CB-2459A3BD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85950"/>
            <a:ext cx="857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6AFC1-F8CE-49EB-ADD5-65B6DF8F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2095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fallos visibles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92755-ADD4-45E1-B417-C8D2EA58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24175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2 duplicados · 2 inputs inválidos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5DC2A-A799-480A-B9F3-0C1507C5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576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1B7F37-6554-4538-85A5-2A9B9B8A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14750"/>
            <a:ext cx="68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API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5048250" y="3800475"/>
            <a:ext cx="514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DF861-9A95-4AFC-8510-DACADFE9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5760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C8136-2752-4FF6-BA6D-CCC4E268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14750"/>
            <a:ext cx="838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QUEUE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6591300" y="3800475"/>
            <a:ext cx="514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69D58-DF3B-4C78-83DA-21C7217E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51809-B421-4FE1-83CC-B7269ED1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WORKER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8229600" y="3800475"/>
            <a:ext cx="514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52E34-98D0-4507-9DD9-D942F820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576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EB6BB1-2B97-421A-A198-B0FDA73B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14750"/>
            <a:ext cx="68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AI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9620250" y="3800475"/>
            <a:ext cx="514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5F73FE-3C66-41AF-BD8F-B10B4E71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576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356C04-349F-4AAB-A2C2-2E9BE5D3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714750"/>
            <a:ext cx="68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UI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D61009-2DFB-4348-8F0F-73A256A0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DEMO REPRODUCIBLE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1359AE-A068-43B1-A7CB-0C9894EC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76800"/>
            <a:ext cx="6896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Providers demo por defecto; providers live habilitados por configuración.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F79597-88A9-44FB-813D-CBE16ECD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Resultado esperado del fixture incluido en el repositorio.</a:t>
            </a:r>
          </a:p>
        </p:txBody>
      </p:sp>
    </p:spTree>
    <p:extLst>
      <p:ext uri="{BB962C8B-B14F-4D97-AF65-F5344CB8AC3E}">
        <p14:creationId xmlns:p14="http://schemas.microsoft.com/office/powerpoint/2010/main" val="9413054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2613A2-0BDB-49A9-BAAD-B17E88D0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3EE90-F432-44D1-B00E-0553F8DC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Hexagonal donde importa: providers cambian, reglas 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A47C0-62E7-46E1-8010-27A68664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2247900" y="313372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4514850" y="313372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7162800" y="313372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9639300" y="313372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74D73-B1F9-4010-83AA-ACDE13A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1790700" cy="16573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3A78D-1F00-4187-ADFD-B1477AC7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Entradas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2C279-AFEF-4598-AC90-8114070F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333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134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NestJS API
BullMQ consumers
Next.js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B900D-4BCD-4872-99DE-0DDF7FF3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05050"/>
            <a:ext cx="1714500" cy="16573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2D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9AB91-2FD4-4F2E-8925-0816F5AD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336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FD6D25-24E1-4FF7-9C77-F55CC269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52750"/>
            <a:ext cx="135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Use cases
Idempotencia
Transacciones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F5237-ED45-47FA-B4AE-9225749C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76450"/>
            <a:ext cx="2095500" cy="21145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BB947-D7DE-437F-87AE-C2E38A41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1428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Domain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9BAA4-0657-4CDA-ADF6-80F6E631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38450"/>
            <a:ext cx="16002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Batch · Lead
State machine
Reglas puras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851CE1-311C-4CD5-A4C5-264F6EE3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05050"/>
            <a:ext cx="1924050" cy="16573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2D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3158E-271B-4E4D-93B2-7C949900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336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Puertos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DF00C-2514-4C7A-93A7-0D51FEDB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52750"/>
            <a:ext cx="14668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Repositorios
Queue · Info · AI
Webhook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68B12-A72B-4C50-888F-7A618215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43100"/>
            <a:ext cx="1543050" cy="23812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691E1-3B39-44B4-AA60-494C8B34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1907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Adaptadores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76BB0C-FAA3-4CE3-90A0-BC7C8E1A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09850"/>
            <a:ext cx="121920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Prisma
Redis
HTTP + Search
OpenAI
Webhook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949C8A-6798-4475-9F3F-2F6B90B8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1127760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2E76B6-69C7-43DD-8D6D-9387C2DB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CRITERIO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CF6285-3BF7-4E3C-A2BE-88A3DB56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72050"/>
            <a:ext cx="9182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Sólo hay interfaces donde existe una falla o sustitución real. Sin repositorios genéricos, factories ceremoniales ni dominio acoplado a NestJS.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72D328-8488-498C-8C08-98C221CD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API y worker comparten Domain/Application para evitar reglas divergentes.</a:t>
            </a:r>
          </a:p>
        </p:txBody>
      </p:sp>
    </p:spTree>
    <p:extLst>
      <p:ext uri="{BB962C8B-B14F-4D97-AF65-F5344CB8AC3E}">
        <p14:creationId xmlns:p14="http://schemas.microsoft.com/office/powerpoint/2010/main" val="1525292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2B3934-D35B-488F-97B8-E8C62C21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30308-796E-42FE-BC9C-1EE68E71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Cada transición es auditable; cada fallo tiene un dueño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4C734-7C6C-42ED-AFDE-CAC7DAFD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1143000" y="2914650"/>
            <a:ext cx="904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1828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BD670-C36F-4AB5-BB0B-E6629988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B0F74-6556-4C27-BB3E-5DD83FB9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28925"/>
            <a:ext cx="876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pending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137A5-4A9C-4659-B600-8AEC4965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71775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05B45-C984-4AE9-9892-E34AC420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28925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processing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D4AAE-0219-4450-B8C3-D4102CEF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7177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CFD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CA6B6-F44E-4F9B-82D0-75FF5075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28925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A83E4-08D1-4793-899F-123BFD91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7177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FFA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36E17-C9C6-45CB-A7FC-4B90885D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28925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ai_enriching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EEDA5-9F9F-4A0F-B381-B73B8258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71775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CFD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EE89B-FE5D-4E97-8F1C-3D215C53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28925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ai_ready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988B6-23DF-4538-AFBC-02DD8B4A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43300"/>
            <a:ext cx="876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failed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3086100" y="3105150"/>
            <a:ext cx="286" cy="400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42318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13217-801E-4435-A269-11FFD9E3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43300"/>
            <a:ext cx="1104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ai_failed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6934200" y="3105150"/>
            <a:ext cx="286" cy="400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42318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91488-9EA2-409E-922A-A615AB04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337185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BBD7D-B2EB-469E-818B-0EF669F6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PERMANENTE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4F010-EA2B-4E97-9CBB-4911AB58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781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Input inválido o duplicado: no se reencola.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B6059-93C6-4988-9518-70B34C64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19600"/>
            <a:ext cx="337185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2AD1BB-A32E-4475-9A95-A583D2EE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57725"/>
            <a:ext cx="133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REINTENTABLE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D25F24-FD96-474F-B749-C60D7603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00625"/>
            <a:ext cx="2800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Red, rate limit o 5xx: 3 intentos con backoff.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48C5F0-7F60-4653-801E-DC36FBAB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19600"/>
            <a:ext cx="403860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436F84-AC26-4A73-AEF6-3B5FC50A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5772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EVENTO ÚNICO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0FABE7-98DF-479B-83FB-A6E5B4E5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00625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Webhook at-least-once + Idempotency-Key.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6B2358-041C-46E2-B022-5BE2AD37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819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El batch completa aunque existan fallos parciales; cada transición genera BatchEvent.</a:t>
            </a:r>
          </a:p>
        </p:txBody>
      </p:sp>
    </p:spTree>
    <p:extLst>
      <p:ext uri="{BB962C8B-B14F-4D97-AF65-F5344CB8AC3E}">
        <p14:creationId xmlns:p14="http://schemas.microsoft.com/office/powerpoint/2010/main" val="671696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ACD01B-F87D-4F31-AD5A-0FF25D30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DE680-FA54-4C99-B0FE-4828E634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AI sólo aporta valor si está grounded y evaluada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B1D08-7367-43BB-8F0C-AF41D4E3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FB360-5E97-4A8D-AD89-28B90D8B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257800" cy="373380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56701-C37D-4166-BCEF-75EB7F8A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CONTRATO DE SALIDA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57E1E-4FE3-43E9-909E-3A60178F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2862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score · rationale
ice-breaker · pain hypothesis
confidence ·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650A8-622A-4426-B173-D69228C6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43053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defRPr>
            </a:pPr>
            <a:r>
              <a:t>Regla: no inventar facturación, problemas financieros ni hechos fuera de las fuentes.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F186F-F09D-4638-A686-D38C45A3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00200"/>
            <a:ext cx="5734050" cy="373380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A49A1-67C1-4F13-9CC4-3A94D0D0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EVALUACIÓN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33198-D950-4287-BEE5-33547B30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00C84-CD99-4DB2-A357-5C9F51EB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03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Schema válido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E452C-0FBD-4D6A-8FD2-7DF41EEC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241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Structured Outputs + Zod en el límite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6286500" y="3143250"/>
            <a:ext cx="495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5F1E5-7AC1-4BD6-9984-E8BDA165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02BAF-CA3F-43E3-B190-B3A7FFF6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718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Grounding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236E0-60B9-41D3-BDEA-D2406904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9570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Cada afirmación importante referencia evidencia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6286500" y="4114800"/>
            <a:ext cx="495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916E6-4634-444E-9055-4FF7FC29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639AD-91E0-4C9D-A73F-A1E38CCA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434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Lift comercial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1D9A4-F613-4697-A894-F14D9ADA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Response rate y research time, no sólo fluidez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EAF217-8AD7-4B0F-8CEF-D30E9378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2D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1104E-F8BA-4548-90CB-9FB00A22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457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≈ USD 10 / 10K empresas / mes en LLM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392847-8717-498D-B36A-48BDDDAE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91200"/>
            <a:ext cx="462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Supuesto: 2K tokens input + 250 output por empresa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D6DCEB-3112-4F53-89C2-3D746EEC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666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Fuente de pricing y capacidades: OpenAI GPT-5 mini, consultado 18 Jul 2026.</a:t>
            </a:r>
          </a:p>
        </p:txBody>
      </p:sp>
    </p:spTree>
    <p:extLst>
      <p:ext uri="{BB962C8B-B14F-4D97-AF65-F5344CB8AC3E}">
        <p14:creationId xmlns:p14="http://schemas.microsoft.com/office/powerpoint/2010/main" val="629013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A9F724-D10B-4CD4-880D-00F8050D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7874A-1A1D-499A-B58C-96072F22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Priorizaría contactabilidad antes que escalar ice-breakers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62749-9C89-487E-B5A6-1F27CB96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9A85B-4A8F-4F8F-8349-9E218450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C251F-4314-4A98-98F6-6BF4CCAC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510E0-E241-41A8-BAF9-7B955219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2781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INICIATIVA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DC26E-FB1B-4C8C-A6F7-D60FCF0C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2724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MÉTRICA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2614C-9294-44E6-88B8-A97F4CA7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62125"/>
            <a:ext cx="819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ESF.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78117-B1DC-47EC-84AE-17B39C03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DECISIÓN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E0429-BA10-4018-8368-C4B46486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11277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B4716-448D-4766-99D0-78875751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FC539-9998-4A48-9A9B-CF523778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Contactabilidad mejorada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C1AD4-492E-4DCB-AFFE-D39B01B0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2724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Contact rate · enrolados/SDR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345C7-6FB2-4FA0-A375-0D11AA88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819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465E8-0E49-4108-92AF-7C635112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Comprar datos · construir orquestación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3D0B9-FE09-4D4F-A031-470AAB86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11277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89CA91-67DF-4D59-B1DC-8E13067D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FAC08-C502-4A81-851F-B2FF1D69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Matching multi-fuente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A15017-ABCC-4D81-A097-AE2BF590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2724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Intentos sobre leads únicos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68E33-01DC-4FE7-9EC0-7DCBB67C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67050"/>
            <a:ext cx="819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AFC0C8-0320-4486-A3BC-7B559E25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Construir identidad y reglas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3D254B-5533-409B-834B-9B6D73DD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1277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5D70F-ACE5-44EB-88D3-7F5A9DFD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C714ED-8426-4A22-9B9E-805EE8B2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AI ice-breakers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45FDD7-DDA9-4E2F-8E44-144D4956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48100"/>
            <a:ext cx="2724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Research time · response 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A71FDD-1A13-4956-8F7C-5FAEFFFC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48100"/>
            <a:ext cx="819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9A2E3E-6D96-4BEC-A2B4-04F3E385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290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Comprar LLM/search · construir evals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2FC17A-A1C3-47FE-B853-A92A6575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11277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03C484-F5E4-43FA-A5DE-F4D5B3B3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78B606-5DEB-413C-A7DE-3CA628FF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Slack cockpit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508B27-43ED-41D4-A4E9-43541909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2724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Time-to-first-touch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6DFC57-3460-49DD-86BD-1B9F1B91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29150"/>
            <a:ext cx="819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2D1432-30C8-43A1-A0F0-46BF526D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Integración delgada tras validar señales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2E786D-4206-41C4-9822-0C02C224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12776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EDF8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CFBB28-08C2-48D4-88B5-03857C96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POSTERGAR POWER-DIALER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B0FB1A-1EAF-4552-8194-A8E8392B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581650"/>
            <a:ext cx="7981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Esfuerzo L · dependencia de telefonía/transcripción · revisión de datos personales.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B89032-4E53-49B0-BB49-AE68021C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857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Hipótesis: el desperdicio principal está en baja contactabilidad, duplicados y tiempo de research.</a:t>
            </a:r>
          </a:p>
        </p:txBody>
      </p:sp>
    </p:spTree>
    <p:extLst>
      <p:ext uri="{BB962C8B-B14F-4D97-AF65-F5344CB8AC3E}">
        <p14:creationId xmlns:p14="http://schemas.microsoft.com/office/powerpoint/2010/main" val="143970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8AC131-2981-410E-9809-78121F00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57886-40AB-45D5-B7BC-8138D6AB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La iniciativa #1 debe demostrar lift en 4–6 semanas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89270-1B70-46CE-B63F-9606001F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04D3D-6AA3-4A6B-B3B7-DB7B2A1F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333375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B2D62-4FD6-46AE-A307-BCA722A7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238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52ACC-26B5-46AD-B838-B7ED4FCE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SDRs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0975D-9356-4477-A976-A3EAB490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476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Asignación balanceada
tratamiento vs.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5EC93-532E-401D-8ECC-FF557004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333375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A95FA-4787-4CCD-BB1F-031C6AE6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+8%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9EE3C-76C0-4EBF-8C36-AB9922B2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289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ÉXITO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A8019-E8F7-47A7-BC61-C50355AA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2476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Enrolados por SDR
por semana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A50C0-B154-4B83-8F53-9FA6B880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411480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EDF8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60F5F-7389-40E4-9EA0-78D18D7A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2571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≤ +2 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9585A-406C-47E5-8E0A-A756A4D5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GUARDRAIL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29931-349D-4320-9CC9-A8D5D87C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432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Inválidos o rebotes
no empeoran más que esto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C3EA2-830E-45D8-979E-34EE4B64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95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DISEÑO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869EF-D1C5-4EAF-96D4-AFC9A19C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1085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Baseline → randomización → 4–6 semanas → lectura causal → decisión de escalar o matar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57200" y="5448300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5C5B8D-CE93-4A30-A3AA-34B4C228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Condición previa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DA149-04BB-4B17-BB9C-17C756F2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95950"/>
            <a:ext cx="8858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Legal/Risk aprueba proveedor y tratamiento de datos antes del experimento.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5B7E0B-B74B-46AF-A7B9-993E010B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7429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El éxito se mide en pipeline enrolado, no en cantidad de datos comprados.</a:t>
            </a:r>
          </a:p>
        </p:txBody>
      </p:sp>
    </p:spTree>
    <p:extLst>
      <p:ext uri="{BB962C8B-B14F-4D97-AF65-F5344CB8AC3E}">
        <p14:creationId xmlns:p14="http://schemas.microsoft.com/office/powerpoint/2010/main" val="19864585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9F982-D161-4B25-905C-5DA6D907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F19B0-C15B-4F08-8091-44F88DC5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0C658-5504-4BF2-B815-5B6B775F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62025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Ship rápido.
Medir impacto.
Estabilizar sólo lo que mueve la métrica.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609600" y="4267200"/>
            <a:ext cx="10668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75467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53B2E-7DA4-42CA-AF27-4307D5C4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COMPRAR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ABFD8-4730-4B79-B5B9-13A64F1B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2857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Commodities y cobertura de datos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E950B-A741-44B3-A58D-FB187CB7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672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CONSTRUIR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F9A37-9176-456B-A086-4CFBF663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01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Aprendizaje del funnel, identidad y orquestación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DB8EB-FC70-4925-84DC-DC0A22C0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672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MATAR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2E1BB-D1B1-4984-93E8-F4FFAEF0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10150"/>
            <a:ext cx="2857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Lo que no mueve enrolamientos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39B6C-502E-489A-86F8-8AB4729F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case</a:t>
            </a:r>
          </a:p>
        </p:txBody>
      </p:sp>
    </p:spTree>
    <p:extLst>
      <p:ext uri="{BB962C8B-B14F-4D97-AF65-F5344CB8AC3E}">
        <p14:creationId xmlns:p14="http://schemas.microsoft.com/office/powerpoint/2010/main" val="1089944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2026-07-18T16:10:24.5370000Z</dcterms:created>
  <dcterms:modified xsi:type="dcterms:W3CDTF">2026-07-18T16:10:24.5370000Z</dcterms:modified>
</coreProperties>
</file>